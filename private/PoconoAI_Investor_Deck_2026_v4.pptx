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082735" y="3657600"/>
            <a:ext cx="2834640" cy="2834640"/>
          </a:xfrm>
          <a:prstGeom prst="rect">
            <a:avLst/>
          </a:prstGeom>
        </p:spPr>
      </p:pic>
      <p:pic>
        <p:nvPicPr>
          <p:cNvPr id="3" name="Image 1" descr="assets/logo_summi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07008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Pocono </a:t>
            </a:r>
            <a:pPr algn="l" indent="0" marL="0">
              <a:buNone/>
            </a:pPr>
            <a:r>
              <a:rPr lang="en-US" sz="21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</a:t>
            </a:r>
            <a:endParaRPr lang="en-US" sz="2100" dirty="0"/>
          </a:p>
        </p:txBody>
      </p:sp>
      <p:sp>
        <p:nvSpPr>
          <p:cNvPr id="5" name="Shape 1"/>
          <p:cNvSpPr/>
          <p:nvPr/>
        </p:nvSpPr>
        <p:spPr>
          <a:xfrm>
            <a:off x="8031175" y="548640"/>
            <a:ext cx="3502152" cy="384048"/>
          </a:xfrm>
          <a:prstGeom prst="roundRect">
            <a:avLst>
              <a:gd name="adj" fmla="val 50000"/>
            </a:avLst>
          </a:prstGeom>
          <a:solidFill>
            <a:srgbClr val="0A223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031175" y="548640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PRE-SEED  ·  INFRASTRUCTURE ROUND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58368" y="1828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local governance</a:t>
            </a:r>
            <a:endParaRPr lang="en-US" sz="3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9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 layer for</a:t>
            </a:r>
            <a:endParaRPr lang="en-US" sz="3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9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regulated AI.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658368" y="4160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· retrieval-grounded drafting · named human review · append-only audit.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5074920"/>
            <a:ext cx="64008" cy="56692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6"/>
          <p:cNvSpPr/>
          <p:nvPr/>
        </p:nvSpPr>
        <p:spPr>
          <a:xfrm>
            <a:off x="877824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sell liability reduction, not AI.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8368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AI, LLC   ·   East Stroudsburg, Pennsylvania   ·   Sentinel Node™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178308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071A28"/>
          </a:solidFill>
          <a:ln w="15240">
            <a:solidFill>
              <a:srgbClr val="1B384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48472" y="19842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 ENVIRONMENT — ON-PREMISES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750808" y="2441448"/>
            <a:ext cx="2139696" cy="1572768"/>
          </a:xfrm>
          <a:prstGeom prst="roundRect">
            <a:avLst>
              <a:gd name="adj" fmla="val 5814"/>
            </a:avLst>
          </a:prstGeom>
          <a:ln w="12700">
            <a:solidFill>
              <a:srgbClr val="0E6F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805672" y="2496312"/>
            <a:ext cx="2029968" cy="1463040"/>
          </a:xfrm>
          <a:prstGeom prst="roundRect">
            <a:avLst>
              <a:gd name="adj" fmla="val 5625"/>
            </a:avLst>
          </a:prstGeom>
          <a:solidFill>
            <a:srgbClr val="081A27"/>
          </a:solidFill>
          <a:ln w="1651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805672" y="2671877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NODE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150767" y="3110789"/>
            <a:ext cx="133977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18" name="Shape 14"/>
          <p:cNvSpPr/>
          <p:nvPr/>
        </p:nvSpPr>
        <p:spPr>
          <a:xfrm>
            <a:off x="10472257" y="3122219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5"/>
          <p:cNvSpPr/>
          <p:nvPr/>
        </p:nvSpPr>
        <p:spPr>
          <a:xfrm>
            <a:off x="9150767" y="3337560"/>
            <a:ext cx="133977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20" name="Shape 16"/>
          <p:cNvSpPr/>
          <p:nvPr/>
        </p:nvSpPr>
        <p:spPr>
          <a:xfrm>
            <a:off x="10472257" y="334899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Shape 17"/>
          <p:cNvSpPr/>
          <p:nvPr/>
        </p:nvSpPr>
        <p:spPr>
          <a:xfrm>
            <a:off x="9150767" y="3564331"/>
            <a:ext cx="133977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22" name="Shape 18"/>
          <p:cNvSpPr/>
          <p:nvPr/>
        </p:nvSpPr>
        <p:spPr>
          <a:xfrm>
            <a:off x="10472257" y="3575761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Shape 19"/>
          <p:cNvSpPr/>
          <p:nvPr/>
        </p:nvSpPr>
        <p:spPr>
          <a:xfrm>
            <a:off x="8476488" y="431596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0"/>
          <p:cNvSpPr/>
          <p:nvPr/>
        </p:nvSpPr>
        <p:spPr>
          <a:xfrm>
            <a:off x="8641080" y="42245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476488" y="468172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2"/>
          <p:cNvSpPr/>
          <p:nvPr/>
        </p:nvSpPr>
        <p:spPr>
          <a:xfrm>
            <a:off x="8641080" y="45902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retrieval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476488" y="504748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4"/>
          <p:cNvSpPr/>
          <p:nvPr/>
        </p:nvSpPr>
        <p:spPr>
          <a:xfrm>
            <a:off x="8641080" y="49560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1548872" y="1965960"/>
            <a:ext cx="0" cy="3337560"/>
          </a:xfrm>
          <a:prstGeom prst="line">
            <a:avLst/>
          </a:prstGeom>
          <a:noFill/>
          <a:ln w="16510">
            <a:solidFill>
              <a:srgbClr val="00C2A8"/>
            </a:solidFill>
            <a:prstDash val="dash"/>
          </a:ln>
        </p:spPr>
      </p:sp>
      <p:sp>
        <p:nvSpPr>
          <p:cNvPr id="30" name="Text 26"/>
          <p:cNvSpPr/>
          <p:nvPr/>
        </p:nvSpPr>
        <p:spPr>
          <a:xfrm>
            <a:off x="8092440" y="56327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data leaves the boundary.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Regulated AI adoption is blocked by proof — not capability.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improving fast and commoditizing. The scarce layer is custody, evidence, human review, and auditability. Pocono AI builds that layer — local governance infrastructure for regulated professional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514600"/>
            <a:ext cx="2480310" cy="2331720"/>
          </a:xfrm>
          <a:prstGeom prst="roundRect">
            <a:avLst>
              <a:gd name="adj" fmla="val 3529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807208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1" name="Image 1" descr="asse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34" y="297015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3538728"/>
            <a:ext cx="1931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32688" y="388620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retrieval stay inside the customer environment.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67862" y="2514600"/>
            <a:ext cx="2480310" cy="2331720"/>
          </a:xfrm>
          <a:prstGeom prst="roundRect">
            <a:avLst>
              <a:gd name="adj" fmla="val 3529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742182" y="2807208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6" name="Image 2" descr="assets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128" y="297015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2182" y="3538728"/>
            <a:ext cx="1931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42182" y="388620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grounded in approved local sources, with citations.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7356" y="2514600"/>
            <a:ext cx="2480310" cy="2331720"/>
          </a:xfrm>
          <a:prstGeom prst="roundRect">
            <a:avLst>
              <a:gd name="adj" fmla="val 3529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2807208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1" name="Image 3" descr="assets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622" y="297015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51676" y="3538728"/>
            <a:ext cx="1931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388620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stays draft until a named professional approves.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086850" y="2514600"/>
            <a:ext cx="2480310" cy="2331720"/>
          </a:xfrm>
          <a:prstGeom prst="roundRect">
            <a:avLst>
              <a:gd name="adj" fmla="val 3529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61170" y="2807208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6" name="Image 4" descr="assets/icons/h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116" y="297015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61170" y="3538728"/>
            <a:ext cx="1931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AUDITED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361170" y="388620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sources, draft, reviewer, decision — recorded as one receipt.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58368" y="525780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081A27"/>
          </a:solidFill>
          <a:ln w="12700">
            <a:solidFill>
              <a:srgbClr val="15303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8368" y="5257800"/>
            <a:ext cx="64008" cy="84124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4"/>
          <p:cNvSpPr/>
          <p:nvPr/>
        </p:nvSpPr>
        <p:spPr>
          <a:xfrm>
            <a:off x="932688" y="52578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shadow AI and ad-hoc cloud workflows with accountable infrastructure a regulated operator can defend.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is outpacing the governance regulated work demands.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and law firms want the productivity. But uncontrolled AI creates privacy, privilege, review, and liability exposure they cannot accept.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331720"/>
            <a:ext cx="3392424" cy="2423160"/>
          </a:xfrm>
          <a:prstGeom prst="roundRect">
            <a:avLst>
              <a:gd name="adj" fmla="val 339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331720"/>
            <a:ext cx="64008" cy="24231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1" name="Shape 8"/>
          <p:cNvSpPr/>
          <p:nvPr/>
        </p:nvSpPr>
        <p:spPr>
          <a:xfrm>
            <a:off x="969264" y="2642616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2" name="Image 1" descr="assets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10" y="2805562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339242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9264" y="38130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authorization, denials, chart review, referrals, and documentation overload strain small practices — and PHI cannot leave the building.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16552" y="2331720"/>
            <a:ext cx="3392424" cy="2423160"/>
          </a:xfrm>
          <a:prstGeom prst="roundRect">
            <a:avLst>
              <a:gd name="adj" fmla="val 339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16552" y="2331720"/>
            <a:ext cx="64008" cy="242316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7" name="Shape 13"/>
          <p:cNvSpPr/>
          <p:nvPr/>
        </p:nvSpPr>
        <p:spPr>
          <a:xfrm>
            <a:off x="4727448" y="2642616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5DADE2"/>
            </a:solidFill>
            <a:prstDash val="solid"/>
          </a:ln>
        </p:spPr>
      </p:sp>
      <p:pic>
        <p:nvPicPr>
          <p:cNvPr id="18" name="Image 2" descr="assets/icons/briefcas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394" y="2805562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27448" y="339242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727448" y="38130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drafting, research, chronology, and privilege workflows demand confidentiality and source traceability.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74736" y="2331720"/>
            <a:ext cx="3392424" cy="2423160"/>
          </a:xfrm>
          <a:prstGeom prst="roundRect">
            <a:avLst>
              <a:gd name="adj" fmla="val 339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74736" y="2331720"/>
            <a:ext cx="64008" cy="2423160"/>
          </a:xfrm>
          <a:prstGeom prst="rect">
            <a:avLst/>
          </a:prstGeom>
          <a:solidFill>
            <a:srgbClr val="E8766F"/>
          </a:solidFill>
          <a:ln/>
        </p:spPr>
      </p:sp>
      <p:sp>
        <p:nvSpPr>
          <p:cNvPr id="23" name="Shape 18"/>
          <p:cNvSpPr/>
          <p:nvPr/>
        </p:nvSpPr>
        <p:spPr>
          <a:xfrm>
            <a:off x="8485632" y="2642616"/>
            <a:ext cx="603504" cy="60350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E8766F"/>
            </a:solidFill>
            <a:prstDash val="solid"/>
          </a:ln>
        </p:spPr>
      </p:sp>
      <p:pic>
        <p:nvPicPr>
          <p:cNvPr id="24" name="Image 3" descr="assets/icons/alert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578" y="2805562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85632" y="339242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485632" y="38130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use is already a practical reality. Policy without architecture is unenforceable.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58368" y="513892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081A27"/>
          </a:solidFill>
          <a:ln w="12700">
            <a:solidFill>
              <a:srgbClr val="15303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24128" y="5138928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 point.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does not just need a better answer. The buyer needs a defensible record of how the answer was produced and approved.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Demand, burden, and liability are converging.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moving from AI experimentation to AI accountability.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2480310" cy="2697480"/>
          </a:xfrm>
          <a:prstGeom prst="roundRect">
            <a:avLst>
              <a:gd name="adj" fmla="val 3318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624328"/>
            <a:ext cx="21511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~39</a:t>
            </a:r>
            <a:endParaRPr lang="en-US" sz="5000" dirty="0"/>
          </a:p>
        </p:txBody>
      </p:sp>
      <p:sp>
        <p:nvSpPr>
          <p:cNvPr id="11" name="Shape 8"/>
          <p:cNvSpPr/>
          <p:nvPr/>
        </p:nvSpPr>
        <p:spPr>
          <a:xfrm>
            <a:off x="859536" y="3657600"/>
            <a:ext cx="640080" cy="0"/>
          </a:xfrm>
          <a:prstGeom prst="line">
            <a:avLst/>
          </a:prstGeom>
          <a:noFill/>
          <a:ln w="12700">
            <a:solidFill>
              <a:srgbClr val="1B38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776472"/>
            <a:ext cx="2077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prior-auth requests per physician per week (AMA)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67862" y="2240280"/>
            <a:ext cx="2480310" cy="2697480"/>
          </a:xfrm>
          <a:prstGeom prst="roundRect">
            <a:avLst>
              <a:gd name="adj" fmla="val 3318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32454" y="2624328"/>
            <a:ext cx="21511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89%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3669030" y="3657600"/>
            <a:ext cx="640080" cy="0"/>
          </a:xfrm>
          <a:prstGeom prst="line">
            <a:avLst/>
          </a:prstGeom>
          <a:noFill/>
          <a:ln w="12700">
            <a:solidFill>
              <a:srgbClr val="1B38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69030" y="3776472"/>
            <a:ext cx="2077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say prior auth contributes to burnout (AMA)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77356" y="2240280"/>
            <a:ext cx="2480310" cy="2697480"/>
          </a:xfrm>
          <a:prstGeom prst="roundRect">
            <a:avLst>
              <a:gd name="adj" fmla="val 3318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41948" y="2624328"/>
            <a:ext cx="21511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26%</a:t>
            </a:r>
            <a:endParaRPr lang="en-US" sz="5000" dirty="0"/>
          </a:p>
        </p:txBody>
      </p:sp>
      <p:sp>
        <p:nvSpPr>
          <p:cNvPr id="19" name="Shape 16"/>
          <p:cNvSpPr/>
          <p:nvPr/>
        </p:nvSpPr>
        <p:spPr>
          <a:xfrm>
            <a:off x="6478524" y="3657600"/>
            <a:ext cx="640080" cy="0"/>
          </a:xfrm>
          <a:prstGeom prst="line">
            <a:avLst/>
          </a:prstGeom>
          <a:noFill/>
          <a:ln w="12700">
            <a:solidFill>
              <a:srgbClr val="1B38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8524" y="3776472"/>
            <a:ext cx="2077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legal organizations using GenAI in 2025 — up from 14% in 2024 (Thomson Reuters)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86850" y="2240280"/>
            <a:ext cx="2480310" cy="2697480"/>
          </a:xfrm>
          <a:prstGeom prst="roundRect">
            <a:avLst>
              <a:gd name="adj" fmla="val 3318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251442" y="2624328"/>
            <a:ext cx="21511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2025+</a:t>
            </a:r>
            <a:endParaRPr lang="en-US" sz="5000" dirty="0"/>
          </a:p>
        </p:txBody>
      </p:sp>
      <p:sp>
        <p:nvSpPr>
          <p:cNvPr id="23" name="Shape 20"/>
          <p:cNvSpPr/>
          <p:nvPr/>
        </p:nvSpPr>
        <p:spPr>
          <a:xfrm>
            <a:off x="9288018" y="3657600"/>
            <a:ext cx="640080" cy="0"/>
          </a:xfrm>
          <a:prstGeom prst="line">
            <a:avLst/>
          </a:prstGeom>
          <a:noFill/>
          <a:ln w="12700">
            <a:solidFill>
              <a:srgbClr val="1B384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8018" y="3776472"/>
            <a:ext cx="2077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courts, firms, and insurers focusing on AI control and verification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" y="5285232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7181F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4128" y="5285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next winners in regulated AI will not merely generate output. They will preserve custody, force review, and prove accountability.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· SENTINEL NODE™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AI infrastructure for high-liability work.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on-premises appliance and operating model for private, cited, human-reviewed AI workflows.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28"/>
          </a:solidFill>
          <a:ln w="15240">
            <a:solidFill>
              <a:srgbClr val="1B38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0432" y="3008376"/>
            <a:ext cx="2176272" cy="1664208"/>
          </a:xfrm>
          <a:prstGeom prst="roundRect">
            <a:avLst>
              <a:gd name="adj" fmla="val 5495"/>
            </a:avLst>
          </a:prstGeom>
          <a:ln w="12700">
            <a:solidFill>
              <a:srgbClr val="0E6F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25296" y="3063240"/>
            <a:ext cx="2066544" cy="1554480"/>
          </a:xfrm>
          <a:prstGeom prst="roundRect">
            <a:avLst>
              <a:gd name="adj" fmla="val 5294"/>
            </a:avLst>
          </a:prstGeom>
          <a:solidFill>
            <a:srgbClr val="081A27"/>
          </a:solidFill>
          <a:ln w="1651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25296" y="324977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NODE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576608" y="3716122"/>
            <a:ext cx="136391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14" name="Shape 11"/>
          <p:cNvSpPr/>
          <p:nvPr/>
        </p:nvSpPr>
        <p:spPr>
          <a:xfrm>
            <a:off x="2922240" y="3727552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2"/>
          <p:cNvSpPr/>
          <p:nvPr/>
        </p:nvSpPr>
        <p:spPr>
          <a:xfrm>
            <a:off x="1576608" y="3957066"/>
            <a:ext cx="136391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16" name="Shape 13"/>
          <p:cNvSpPr/>
          <p:nvPr/>
        </p:nvSpPr>
        <p:spPr>
          <a:xfrm>
            <a:off x="2922240" y="396849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4"/>
          <p:cNvSpPr/>
          <p:nvPr/>
        </p:nvSpPr>
        <p:spPr>
          <a:xfrm>
            <a:off x="1576608" y="4198010"/>
            <a:ext cx="1363919" cy="77724"/>
          </a:xfrm>
          <a:prstGeom prst="roundRect">
            <a:avLst>
              <a:gd name="adj" fmla="val 47059"/>
            </a:avLst>
          </a:prstGeom>
          <a:solidFill>
            <a:srgbClr val="12303F"/>
          </a:solidFill>
          <a:ln/>
        </p:spPr>
      </p:sp>
      <p:sp>
        <p:nvSpPr>
          <p:cNvPr id="18" name="Shape 15"/>
          <p:cNvSpPr/>
          <p:nvPr/>
        </p:nvSpPr>
        <p:spPr>
          <a:xfrm>
            <a:off x="2922240" y="420944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inside the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network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2286000"/>
            <a:ext cx="7360920" cy="786384"/>
          </a:xfrm>
          <a:prstGeom prst="roundRect">
            <a:avLst>
              <a:gd name="adj" fmla="val 1046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43984" y="2423160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2" name="Image 1" descr="asse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241" y="2561417"/>
            <a:ext cx="235549" cy="23554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20640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custody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7406640" y="237744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records and privileged files remain inside the customer environment.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206240" y="3236976"/>
            <a:ext cx="7360920" cy="786384"/>
          </a:xfrm>
          <a:prstGeom prst="roundRect">
            <a:avLst>
              <a:gd name="adj" fmla="val 1046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443984" y="3374136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7" name="Image 2" descr="assets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41" y="3512393"/>
            <a:ext cx="235549" cy="23554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20640" y="3355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grounding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7406640" y="332841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generated against approved local sources and citation cards.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206240" y="4187952"/>
            <a:ext cx="7360920" cy="786384"/>
          </a:xfrm>
          <a:prstGeom prst="roundRect">
            <a:avLst>
              <a:gd name="adj" fmla="val 1046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443984" y="4325112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2" name="Image 3" descr="assets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41" y="4463369"/>
            <a:ext cx="235549" cy="23554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20640" y="43068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Mandatory review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406640" y="42793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output remains draft until a named professional approves.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206240" y="5138928"/>
            <a:ext cx="7360920" cy="786384"/>
          </a:xfrm>
          <a:prstGeom prst="roundRect">
            <a:avLst>
              <a:gd name="adj" fmla="val 1046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443984" y="5276088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7" name="Image 4" descr="assets/icons/h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241" y="5414345"/>
            <a:ext cx="235549" cy="235549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2064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receipt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7406640" y="523036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retrieval, draft, reviewer, decision, and export are captured.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in. Governed artifact out.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retrieval, review gate, and audit trail are designed as one operational system.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74624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59256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1" name="Image 1" descr="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13" y="266200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4624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sources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355952" y="3017520"/>
            <a:ext cx="310896" cy="0"/>
          </a:xfrm>
          <a:prstGeom prst="line">
            <a:avLst/>
          </a:prstGeom>
          <a:noFill/>
          <a:ln w="2032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666848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51480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6" name="Image 2" descr="asset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737" y="266200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66848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Ingestion +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148176" y="3017520"/>
            <a:ext cx="310896" cy="0"/>
          </a:xfrm>
          <a:prstGeom prst="line">
            <a:avLst/>
          </a:prstGeom>
          <a:noFill/>
          <a:ln w="2032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459072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43704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1" name="Image 3" descr="asse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961" y="266200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59072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Hybrid retrieval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reranking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40400" y="3017520"/>
            <a:ext cx="310896" cy="0"/>
          </a:xfrm>
          <a:prstGeom prst="line">
            <a:avLst/>
          </a:prstGeom>
          <a:noFill/>
          <a:ln w="2032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251296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35928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6" name="Image 4" descr="assets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185" y="266200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51296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model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732624" y="3017520"/>
            <a:ext cx="310896" cy="0"/>
          </a:xfrm>
          <a:prstGeom prst="line">
            <a:avLst/>
          </a:prstGeom>
          <a:noFill/>
          <a:ln w="2032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043520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B2A26"/>
          </a:solidFill>
          <a:ln w="1778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28152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2DD4BF"/>
            </a:solidFill>
            <a:prstDash val="solid"/>
          </a:ln>
        </p:spPr>
      </p:sp>
      <p:pic>
        <p:nvPicPr>
          <p:cNvPr id="31" name="Image 5" descr="assets/icons/user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409" y="2662001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43520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gate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9524848" y="3017520"/>
            <a:ext cx="310896" cy="0"/>
          </a:xfrm>
          <a:prstGeom prst="line">
            <a:avLst/>
          </a:prstGeom>
          <a:noFill/>
          <a:ln w="2032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9835744" y="2286000"/>
            <a:ext cx="1481328" cy="1463040"/>
          </a:xfrm>
          <a:prstGeom prst="roundRect">
            <a:avLst>
              <a:gd name="adj" fmla="val 5625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320376" y="252374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6" name="Image 6" descr="assets/icons/ha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8633" y="2662001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835744" y="31272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58368" y="41148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7181F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024128" y="4114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principle.  </a:t>
            </a:r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deliverable is not an AI answer. It is a reviewed, cited, reconstructable work artifact.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58368" y="5212080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ON A LOCAL STACK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722376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22376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LTS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2540508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540508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4358640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358640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6176772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176772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reranking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7994904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7994904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9813036" y="5532120"/>
            <a:ext cx="1690116" cy="457200"/>
          </a:xfrm>
          <a:prstGeom prst="roundRect">
            <a:avLst>
              <a:gd name="adj" fmla="val 12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9813036" y="5532120"/>
            <a:ext cx="1690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audit log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audit layer is the product moat.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tools optimize generation. Pocono AI optimizes defensibility.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19456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9264" y="24323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GOVERNANCE RECEIPT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24128" y="30175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1225296" y="28712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61488" y="287121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asked?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4128" y="3291840"/>
            <a:ext cx="4617720" cy="0"/>
          </a:xfrm>
          <a:prstGeom prst="line">
            <a:avLst/>
          </a:prstGeom>
          <a:noFill/>
          <a:ln w="9525">
            <a:solidFill>
              <a:srgbClr val="1530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4128" y="3584448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1225296" y="34381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61488" y="34381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retrieved?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4128" y="3858768"/>
            <a:ext cx="4617720" cy="0"/>
          </a:xfrm>
          <a:prstGeom prst="line">
            <a:avLst/>
          </a:prstGeom>
          <a:noFill/>
          <a:ln w="9525">
            <a:solidFill>
              <a:srgbClr val="15303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415137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7"/>
          <p:cNvSpPr/>
          <p:nvPr/>
        </p:nvSpPr>
        <p:spPr>
          <a:xfrm>
            <a:off x="1225296" y="40050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61488" y="4005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model produce?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24128" y="4425696"/>
            <a:ext cx="4617720" cy="0"/>
          </a:xfrm>
          <a:prstGeom prst="line">
            <a:avLst/>
          </a:prstGeom>
          <a:noFill/>
          <a:ln w="9525">
            <a:solidFill>
              <a:srgbClr val="1530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4128" y="4718304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1"/>
          <p:cNvSpPr/>
          <p:nvPr/>
        </p:nvSpPr>
        <p:spPr>
          <a:xfrm>
            <a:off x="1225296" y="45720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61488" y="45720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or rejected?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24128" y="4992624"/>
            <a:ext cx="4617720" cy="0"/>
          </a:xfrm>
          <a:prstGeom prst="line">
            <a:avLst/>
          </a:prstGeom>
          <a:noFill/>
          <a:ln w="9525">
            <a:solidFill>
              <a:srgbClr val="15303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4128" y="5285232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5"/>
          <p:cNvSpPr/>
          <p:nvPr/>
        </p:nvSpPr>
        <p:spPr>
          <a:xfrm>
            <a:off x="1225296" y="51389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761488" y="51389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reconstructed later?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regulated output carries its evidence envelope with it.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355080" y="3566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shifts AI from “trust this fluent answer” to “inspect this chain of custody.”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355080" y="443484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07181F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64808" y="4480560"/>
            <a:ext cx="365760" cy="36576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4" name="Image 1" descr="assets/icons/h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9315"/>
            <a:ext cx="168250" cy="16825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922008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HMAC-hash-chained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355080" y="5001768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07181F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64808" y="5047488"/>
            <a:ext cx="365760" cy="36576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8" name="Image 2" descr="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3" y="5146243"/>
            <a:ext cx="168250" cy="16825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922008" y="5001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retained · 90-day immutable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6355080" y="5568696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07181F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464808" y="5614416"/>
            <a:ext cx="365760" cy="36576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42" name="Image 3" descr="assets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5713171"/>
            <a:ext cx="168250" cy="16825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922008" y="5568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filed (Mar 2026)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HEALTHCARE WEDGE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Administrative leverage — without autonomous clinical action.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medical workflows are document-heavy, repeatable, painful, and naturally reviewable.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240280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Prior-authorization packet drafting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98264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8264" y="2240280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Text 11"/>
          <p:cNvSpPr/>
          <p:nvPr/>
        </p:nvSpPr>
        <p:spPr>
          <a:xfrm>
            <a:off x="4672584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Denial / appeal response prep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2240280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 summarization for review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593592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 &amp; consult packets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398264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98264" y="3593592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0"/>
          <p:cNvSpPr/>
          <p:nvPr/>
        </p:nvSpPr>
        <p:spPr>
          <a:xfrm>
            <a:off x="4672584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 &amp; payer-document retrieval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138160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593592"/>
            <a:ext cx="54864" cy="10789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0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support-staff documentation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8368" y="5285232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81A27"/>
          </a:solidFill>
          <a:ln w="13970">
            <a:solidFill>
              <a:srgbClr val="00C2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5468112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9" name="Image 1" descr="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5591556"/>
            <a:ext cx="210312" cy="21031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72768" y="528523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 supports drafting, retrieval, and review. Licensed professionals retain clinical judgment and final sign-off.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WEDGE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Privilege-sensitive AI — with provenance and attorney control.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teams need acceleration without sacrificing confidentiality, competence, or source traceability.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240280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 review support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98264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8264" y="2240280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4" name="Text 11"/>
          <p:cNvSpPr/>
          <p:nvPr/>
        </p:nvSpPr>
        <p:spPr>
          <a:xfrm>
            <a:off x="4672584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Matter chronology preparation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2240280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2240280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22402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Deposition prep &amp; issue extraction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593592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Privilege-sensitive file review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398264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98264" y="3593592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3" name="Text 20"/>
          <p:cNvSpPr/>
          <p:nvPr/>
        </p:nvSpPr>
        <p:spPr>
          <a:xfrm>
            <a:off x="4672584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legal research support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138160" y="3593592"/>
            <a:ext cx="3429000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3593592"/>
            <a:ext cx="54864" cy="107899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0" y="359359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Client-file summarization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8368" y="5285232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81A27"/>
          </a:solidFill>
          <a:ln w="13970">
            <a:solidFill>
              <a:srgbClr val="5DAD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5468112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5DADE2"/>
            </a:solidFill>
            <a:prstDash val="solid"/>
          </a:ln>
        </p:spPr>
      </p:sp>
      <p:pic>
        <p:nvPicPr>
          <p:cNvPr id="29" name="Image 1" descr="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5591556"/>
            <a:ext cx="210312" cy="21031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72768" y="528523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remains draft work product until attorney review; matter files stay local and citation-bound.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governed middle path between cloud AI and fragile DIY.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 packages local deployment, governance, and workflow discipline for the small regulated practices that enterprise AI programs and air-gapped security vendors do not serve.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86000"/>
            <a:ext cx="2494026" cy="3291840"/>
          </a:xfrm>
          <a:prstGeom prst="roundRect">
            <a:avLst>
              <a:gd name="adj" fmla="val 33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542032"/>
            <a:ext cx="21282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 cloud AI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24128" y="3255264"/>
            <a:ext cx="1762506" cy="0"/>
          </a:xfrm>
          <a:prstGeom prst="line">
            <a:avLst/>
          </a:prstGeom>
          <a:noFill/>
          <a:ln w="12700">
            <a:solidFill>
              <a:srgbClr val="1530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3538728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3438144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try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50976" y="4050792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3950208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custody story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50976" y="4562856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462272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the building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0976" y="5074920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4974336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outside the system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463290" y="2286000"/>
            <a:ext cx="2494026" cy="3291840"/>
          </a:xfrm>
          <a:prstGeom prst="roundRect">
            <a:avLst>
              <a:gd name="adj" fmla="val 33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46170" y="2542032"/>
            <a:ext cx="21282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DIY local AI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829050" y="3255264"/>
            <a:ext cx="1762506" cy="0"/>
          </a:xfrm>
          <a:prstGeom prst="line">
            <a:avLst/>
          </a:prstGeom>
          <a:noFill/>
          <a:ln w="12700">
            <a:solidFill>
              <a:srgbClr val="1530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55898" y="3538728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4" name="Text 21"/>
          <p:cNvSpPr/>
          <p:nvPr/>
        </p:nvSpPr>
        <p:spPr>
          <a:xfrm>
            <a:off x="3920490" y="3438144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control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755898" y="4050792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6" name="Text 23"/>
          <p:cNvSpPr/>
          <p:nvPr/>
        </p:nvSpPr>
        <p:spPr>
          <a:xfrm>
            <a:off x="3920490" y="3950208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operations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755898" y="4562856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8" name="Text 25"/>
          <p:cNvSpPr/>
          <p:nvPr/>
        </p:nvSpPr>
        <p:spPr>
          <a:xfrm>
            <a:off x="3920490" y="4462272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productized audit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755898" y="5074920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30" name="Text 27"/>
          <p:cNvSpPr/>
          <p:nvPr/>
        </p:nvSpPr>
        <p:spPr>
          <a:xfrm>
            <a:off x="3920490" y="4974336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model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8212" y="2286000"/>
            <a:ext cx="2494026" cy="3291840"/>
          </a:xfrm>
          <a:prstGeom prst="roundRect">
            <a:avLst>
              <a:gd name="adj" fmla="val 3300"/>
            </a:avLst>
          </a:prstGeom>
          <a:solidFill>
            <a:srgbClr val="0B2A26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51092" y="2542032"/>
            <a:ext cx="21282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Pocono AI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6633972" y="3255264"/>
            <a:ext cx="1762506" cy="0"/>
          </a:xfrm>
          <a:prstGeom prst="line">
            <a:avLst/>
          </a:prstGeom>
          <a:noFill/>
          <a:ln w="12700">
            <a:solidFill>
              <a:srgbClr val="0E6F6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0820" y="3538728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5" name="Text 32"/>
          <p:cNvSpPr/>
          <p:nvPr/>
        </p:nvSpPr>
        <p:spPr>
          <a:xfrm>
            <a:off x="6725412" y="3438144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design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60820" y="4050792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7" name="Text 34"/>
          <p:cNvSpPr/>
          <p:nvPr/>
        </p:nvSpPr>
        <p:spPr>
          <a:xfrm>
            <a:off x="6725412" y="3950208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appliance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560820" y="4562856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9" name="Text 36"/>
          <p:cNvSpPr/>
          <p:nvPr/>
        </p:nvSpPr>
        <p:spPr>
          <a:xfrm>
            <a:off x="6725412" y="4462272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 built in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560820" y="5074920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1" name="Text 38"/>
          <p:cNvSpPr/>
          <p:nvPr/>
        </p:nvSpPr>
        <p:spPr>
          <a:xfrm>
            <a:off x="6725412" y="4974336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playbook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9073134" y="2286000"/>
            <a:ext cx="2494026" cy="3291840"/>
          </a:xfrm>
          <a:prstGeom prst="roundRect">
            <a:avLst>
              <a:gd name="adj" fmla="val 33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56014" y="2542032"/>
            <a:ext cx="21282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 / air-gapped</a:t>
            </a:r>
            <a:endParaRPr lang="en-US" sz="1450" dirty="0"/>
          </a:p>
        </p:txBody>
      </p:sp>
      <p:sp>
        <p:nvSpPr>
          <p:cNvPr id="44" name="Shape 41"/>
          <p:cNvSpPr/>
          <p:nvPr/>
        </p:nvSpPr>
        <p:spPr>
          <a:xfrm>
            <a:off x="9438894" y="3255264"/>
            <a:ext cx="1762506" cy="0"/>
          </a:xfrm>
          <a:prstGeom prst="line">
            <a:avLst/>
          </a:prstGeom>
          <a:noFill/>
          <a:ln w="12700">
            <a:solidFill>
              <a:srgbClr val="15303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365742" y="3538728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46" name="Text 43"/>
          <p:cNvSpPr/>
          <p:nvPr/>
        </p:nvSpPr>
        <p:spPr>
          <a:xfrm>
            <a:off x="9530334" y="3438144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governance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9365742" y="4050792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48" name="Text 45"/>
          <p:cNvSpPr/>
          <p:nvPr/>
        </p:nvSpPr>
        <p:spPr>
          <a:xfrm>
            <a:off x="9530334" y="3950208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services cycles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9365742" y="4562856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50" name="Text 47"/>
          <p:cNvSpPr/>
          <p:nvPr/>
        </p:nvSpPr>
        <p:spPr>
          <a:xfrm>
            <a:off x="9530334" y="4462272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build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9365742" y="5074920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52" name="Text 49"/>
          <p:cNvSpPr/>
          <p:nvPr/>
        </p:nvSpPr>
        <p:spPr>
          <a:xfrm>
            <a:off x="9530334" y="4974336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fit for small firms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658368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on-prem AI-security vendors (e.g. SentinelOne) defend enterprise and air-gapped networks. Pocono AI governs document workflows for the independent clinic and the small firm.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Managed Hardware-as-a-Service for regulated workflows.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monetizes deployment, governance configuration, and ongoing support — not seats in a chatbot.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2480310" cy="2011680"/>
          </a:xfrm>
          <a:prstGeom prst="roundRect">
            <a:avLst>
              <a:gd name="adj" fmla="val 4091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2478024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1" name="Image 1" descr="assets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60146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953512"/>
            <a:ext cx="211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$5,000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859536" y="3566160"/>
            <a:ext cx="211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implementation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paid proof-of-value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67862" y="2240280"/>
            <a:ext cx="2480310" cy="2011680"/>
          </a:xfrm>
          <a:prstGeom prst="roundRect">
            <a:avLst>
              <a:gd name="adj" fmla="val 4091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87318" y="2478024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6" name="Image 2" descr="asse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762" y="2601468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0742" y="2953512"/>
            <a:ext cx="211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$950/mo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3669030" y="3566160"/>
            <a:ext cx="211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founding-rate recurring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 node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7356" y="2240280"/>
            <a:ext cx="2480310" cy="2011680"/>
          </a:xfrm>
          <a:prstGeom prst="roundRect">
            <a:avLst>
              <a:gd name="adj" fmla="val 4091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6812" y="2478024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1" name="Image 3" descr="assets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601468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0236" y="2953512"/>
            <a:ext cx="211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$11,400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478524" y="3566160"/>
            <a:ext cx="211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deployed node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086850" y="2240280"/>
            <a:ext cx="2480310" cy="2011680"/>
          </a:xfrm>
          <a:prstGeom prst="roundRect">
            <a:avLst>
              <a:gd name="adj" fmla="val 4091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6306" y="2478024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6" name="Image 4" descr="assets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0" y="260146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69730" y="2953512"/>
            <a:ext cx="211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HaaS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9288018" y="3566160"/>
            <a:ext cx="2114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governance, support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updates as one engagement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58368" y="4526280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PRICED BY PRACTICE SIZE  ·  EXPANDS WITH THE CUSTOMER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31520" y="4846320"/>
            <a:ext cx="2035454" cy="457200"/>
          </a:xfrm>
          <a:prstGeom prst="roundRect">
            <a:avLst>
              <a:gd name="adj" fmla="val 12000"/>
            </a:avLst>
          </a:prstGeom>
          <a:solidFill>
            <a:srgbClr val="081A27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31520" y="484632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providers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2913278" y="4846320"/>
            <a:ext cx="2035454" cy="457200"/>
          </a:xfrm>
          <a:prstGeom prst="roundRect">
            <a:avLst>
              <a:gd name="adj" fmla="val 12000"/>
            </a:avLst>
          </a:prstGeom>
          <a:solidFill>
            <a:srgbClr val="081A27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2913278" y="484632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providers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095037" y="4846320"/>
            <a:ext cx="2035454" cy="457200"/>
          </a:xfrm>
          <a:prstGeom prst="roundRect">
            <a:avLst>
              <a:gd name="adj" fmla="val 12000"/>
            </a:avLst>
          </a:prstGeom>
          <a:solidFill>
            <a:srgbClr val="081A27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095037" y="484632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/ multi-clinic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7276795" y="4846320"/>
            <a:ext cx="2035454" cy="457200"/>
          </a:xfrm>
          <a:prstGeom prst="roundRect">
            <a:avLst>
              <a:gd name="adj" fmla="val 12000"/>
            </a:avLst>
          </a:prstGeom>
          <a:solidFill>
            <a:srgbClr val="081A27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276795" y="484632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&amp; locations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458554" y="4846320"/>
            <a:ext cx="2035454" cy="457200"/>
          </a:xfrm>
          <a:prstGeom prst="roundRect">
            <a:avLst>
              <a:gd name="adj" fmla="val 12000"/>
            </a:avLst>
          </a:prstGeom>
          <a:solidFill>
            <a:srgbClr val="081A27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458554" y="484632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/ partner deployment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658368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 on-site installation, BAA execution, 90-day onboarding, and hardware refresh at month 24. 24-month minimum term. Founding-cohort pricing — to be repackaged as pilots validate margin.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ECONOMICS · MODELED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Per-node economics designed to compound.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today: the per-node price. Everything else below is a modeled projection on a pre-revenue base — shown to convey shape, not certainty.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102838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23160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$11,400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2688" y="3081528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per node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703576" y="2423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CONTRACTED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04360" y="2240280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0392" y="2423160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~75%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78680" y="3081528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gross margin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50352" y="2240280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6384" y="2423160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5.2 mo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424672" y="3081528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payback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3867912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050792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35×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32688" y="470916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LTV / CAC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404360" y="3867912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102838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0392" y="4050792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mo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4678680" y="470916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service term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49568" y="40507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CONTRACTED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150352" y="3867912"/>
            <a:ext cx="3416808" cy="1371600"/>
          </a:xfrm>
          <a:prstGeom prst="roundRect">
            <a:avLst>
              <a:gd name="adj" fmla="val 6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06384" y="4050792"/>
            <a:ext cx="2959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~Q2 2027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8424672" y="470916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break-even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58368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Phase I/II contract terms and a 36-month average customer-tenure assumption. Full 5-year model available under NDA; figures to be reconciled and validated against the first paid pilots.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Founder-led pilots, then deployment playbooks.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high-trust regional customers; scale through repeatable workflow packages and partner-supported deployment.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19456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0B2A26"/>
          </a:solidFill>
          <a:ln w="16510">
            <a:solidFill>
              <a:srgbClr val="00C2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21945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1892808" y="2372868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2" name="Image 1" descr="assets/icons/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065" y="251112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Regional proof-of-value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053328" y="21945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Poconos · Lehigh Valley · Northern NJ — founder-led support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" y="3227832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9264" y="322783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1892808" y="3406140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8" name="Image 2" descr="asset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065" y="3544397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70048" y="32278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Repeatable deployment kit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053328" y="3227832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map · audit checklist · training · support boundaries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8368" y="4261104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69264" y="4261104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1892808" y="4439412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4" name="Image 3" descr="assets/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065" y="4577669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70048" y="4261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 channel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053328" y="4261104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/ regional IT partners install under Pocono AI standards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58368" y="5294376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69264" y="529437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1892808" y="547268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0" name="Image 4" descr="assets/icons/comp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065" y="5610941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670048" y="529437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Regulated expansion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053328" y="529437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and compliance-heavy professional services · PA → NJ → NY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TRACTION · HONEST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Strong build, early commercial stage.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position: a deep infrastructure thesis and a substantial buildout moving toward its first pilots.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194560"/>
            <a:ext cx="5289804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" y="247802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1" name="Image 1" descr="assets/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69" y="261628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331720"/>
            <a:ext cx="4192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trust surface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572768" y="2651760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page site with physician, legal, IT, compliance, and investor pathways.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7356" y="2194560"/>
            <a:ext cx="5289804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5100" y="2478024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16" name="Image 2" descr="asset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357" y="261628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91756" y="2331720"/>
            <a:ext cx="4192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doctrine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191756" y="2651760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Node, governance receipt, pilot evidence framework, local-vs-cloud.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58368" y="3511296"/>
            <a:ext cx="5289804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112" y="3794760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1" name="Image 3" descr="assets/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369" y="393301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3648456"/>
            <a:ext cx="4192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Diligence-ready data room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572768" y="3968496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governance, security, healthcare &amp; legal pilot documents.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77356" y="3511296"/>
            <a:ext cx="5289804" cy="1078992"/>
          </a:xfrm>
          <a:prstGeom prst="roundRect">
            <a:avLst>
              <a:gd name="adj" fmla="val 7627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15100" y="3794760"/>
            <a:ext cx="512064" cy="512064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26" name="Image 4" descr="assets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357" y="393301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91756" y="3648456"/>
            <a:ext cx="4192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Risk-mitigation assets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191756" y="3968496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 E&amp;O in place · SOC 2 Type I in progress · BAA v3.0 · provisional patent.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58368" y="5285232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1A1416"/>
          </a:solidFill>
          <a:ln w="13970">
            <a:solidFill>
              <a:srgbClr val="E8766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2688" y="5468112"/>
            <a:ext cx="457200" cy="457200"/>
          </a:xfrm>
          <a:prstGeom prst="ellipse">
            <a:avLst/>
          </a:prstGeom>
          <a:solidFill>
            <a:srgbClr val="241416"/>
          </a:solidFill>
          <a:ln w="13970">
            <a:solidFill>
              <a:srgbClr val="E8766F"/>
            </a:solidFill>
            <a:prstDash val="solid"/>
          </a:ln>
        </p:spPr>
      </p:sp>
      <p:pic>
        <p:nvPicPr>
          <p:cNvPr id="31" name="Image 5" descr="assets/icons/alert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" y="5591556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72768" y="528523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pilots or revenue yet.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in active discussions (a Lehigh Valley family practice); seeking four more design partners. This is a pre-pilot infrastructure round — not presented as booked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 · 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pilot appliance to regulated AI control plane.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Milestone-led, not time-led. The financing tranches unlock against pilot proof.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331720"/>
            <a:ext cx="3392424" cy="3383280"/>
          </a:xfrm>
          <a:prstGeom prst="roundRect">
            <a:avLst>
              <a:gd name="adj" fmla="val 2432"/>
            </a:avLst>
          </a:prstGeom>
          <a:solidFill>
            <a:srgbClr val="0B2A26"/>
          </a:solidFill>
          <a:ln w="1778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" y="260604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– Q3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paid pilots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32688" y="3749040"/>
            <a:ext cx="2843784" cy="0"/>
          </a:xfrm>
          <a:prstGeom prst="line">
            <a:avLst/>
          </a:prstGeom>
          <a:noFill/>
          <a:ln w="12700">
            <a:solidFill>
              <a:srgbClr val="0E6F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" y="4005072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1133856" y="3895344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design-partner cohort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9264" y="4572000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3856" y="446227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one painful workflow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9264" y="5138928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1133856" y="502920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 + templates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16552" y="2331720"/>
            <a:ext cx="3392424" cy="3383280"/>
          </a:xfrm>
          <a:prstGeom prst="roundRect">
            <a:avLst>
              <a:gd name="adj" fmla="val 2432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260604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 2027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90872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Repeatable deployment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690872" y="3749040"/>
            <a:ext cx="2843784" cy="0"/>
          </a:xfrm>
          <a:prstGeom prst="line">
            <a:avLst/>
          </a:prstGeom>
          <a:noFill/>
          <a:ln w="12700">
            <a:solidFill>
              <a:srgbClr val="1530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27448" y="4005072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3895344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unlocks at 5th paid pilot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27448" y="4572000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446227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deployments · MSP channel live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27448" y="5138928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502920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/ NJ / NY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74736" y="2331720"/>
            <a:ext cx="3392424" cy="3383280"/>
          </a:xfrm>
          <a:prstGeom prst="roundRect">
            <a:avLst>
              <a:gd name="adj" fmla="val 2432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49056" y="260604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 2027 →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449056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&amp; Series A readiness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8449056" y="3749040"/>
            <a:ext cx="2843784" cy="0"/>
          </a:xfrm>
          <a:prstGeom prst="line">
            <a:avLst/>
          </a:prstGeom>
          <a:noFill/>
          <a:ln w="12700">
            <a:solidFill>
              <a:srgbClr val="15303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85632" y="4005072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34" name="Text 31"/>
          <p:cNvSpPr/>
          <p:nvPr/>
        </p:nvSpPr>
        <p:spPr>
          <a:xfrm>
            <a:off x="8650224" y="3895344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(~35 customers, modeled)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485632" y="4572000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36" name="Text 33"/>
          <p:cNvSpPr/>
          <p:nvPr/>
        </p:nvSpPr>
        <p:spPr>
          <a:xfrm>
            <a:off x="8650224" y="446227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ROI scorecards · LOIs · co-founder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485632" y="5138928"/>
            <a:ext cx="73152" cy="73152"/>
          </a:xfrm>
          <a:prstGeom prst="ellipse">
            <a:avLst/>
          </a:prstGeom>
          <a:solidFill>
            <a:srgbClr val="6E8AA0"/>
          </a:solidFill>
          <a:ln/>
        </p:spPr>
      </p:sp>
      <p:sp>
        <p:nvSpPr>
          <p:cNvPr id="38" name="Text 35"/>
          <p:cNvSpPr/>
          <p:nvPr/>
        </p:nvSpPr>
        <p:spPr>
          <a:xfrm>
            <a:off x="8650224" y="502920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Governance-receipt standard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Founder-market fit, built from lived regulated-work pain.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4937760" cy="3657600"/>
          </a:xfrm>
          <a:prstGeom prst="roundRect">
            <a:avLst>
              <a:gd name="adj" fmla="val 2250"/>
            </a:avLst>
          </a:prstGeom>
          <a:solidFill>
            <a:srgbClr val="102838"/>
          </a:solidFill>
          <a:ln w="12700">
            <a:solidFill>
              <a:srgbClr val="0E6F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9" name="Image 1" descr="assets/logo_summi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505456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Marcus O'Dell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70992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Principal Architect &amp; CEO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24128" y="3547872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1188720" y="3438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MySQL DBA · Linux administrator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24128" y="3931920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1"/>
          <p:cNvSpPr/>
          <p:nvPr/>
        </p:nvSpPr>
        <p:spPr>
          <a:xfrm>
            <a:off x="118872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system architecture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24128" y="4315968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4206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&amp; local AI stack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024128" y="4700016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5"/>
          <p:cNvSpPr/>
          <p:nvPr/>
        </p:nvSpPr>
        <p:spPr>
          <a:xfrm>
            <a:off x="118872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therapist / social worker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024128" y="508406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7"/>
          <p:cNvSpPr/>
          <p:nvPr/>
        </p:nvSpPr>
        <p:spPr>
          <a:xfrm>
            <a:off x="1188720" y="4974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IT instructor · MS, Psychology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24128" y="5394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infrastructure and understands the operational consequences of fragmented regulated documentation.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760720" y="224028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ADVISORY (FORMING)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760720" y="2560320"/>
            <a:ext cx="2766060" cy="603504"/>
          </a:xfrm>
          <a:prstGeom prst="roundRect">
            <a:avLst>
              <a:gd name="adj" fmla="val 1363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3600" y="2633472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Brian Wirth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943600" y="2889504"/>
            <a:ext cx="2491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Business Advisor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801100" y="2560320"/>
            <a:ext cx="2766060" cy="603504"/>
          </a:xfrm>
          <a:prstGeom prst="roundRect">
            <a:avLst>
              <a:gd name="adj" fmla="val 1363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983980" y="2633472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Micky Dupree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983980" y="2889504"/>
            <a:ext cx="2491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Communication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760720" y="3273552"/>
            <a:ext cx="2766060" cy="603504"/>
          </a:xfrm>
          <a:prstGeom prst="roundRect">
            <a:avLst>
              <a:gd name="adj" fmla="val 1363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0" y="3346704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Kaylynn Weikel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943600" y="3602736"/>
            <a:ext cx="2491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Advocacy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801100" y="3273552"/>
            <a:ext cx="2766060" cy="603504"/>
          </a:xfrm>
          <a:prstGeom prst="roundRect">
            <a:avLst>
              <a:gd name="adj" fmla="val 13636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983980" y="3346704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Kesarwani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983980" y="3602736"/>
            <a:ext cx="2491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Advisory (pending)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760720" y="4069080"/>
            <a:ext cx="5806440" cy="640080"/>
          </a:xfrm>
          <a:prstGeom prst="roundRect">
            <a:avLst>
              <a:gd name="adj" fmla="val 10000"/>
            </a:avLst>
          </a:prstGeom>
          <a:solidFill>
            <a:srgbClr val="07181F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907024" y="4160520"/>
            <a:ext cx="457200" cy="457200"/>
          </a:xfrm>
          <a:prstGeom prst="ellipse">
            <a:avLst/>
          </a:prstGeom>
          <a:solidFill>
            <a:srgbClr val="0A2230"/>
          </a:solidFill>
          <a:ln w="13970">
            <a:solidFill>
              <a:srgbClr val="00C2A8"/>
            </a:solidFill>
            <a:prstDash val="solid"/>
          </a:ln>
        </p:spPr>
      </p:sp>
      <p:pic>
        <p:nvPicPr>
          <p:cNvPr id="38" name="Image 2" descr="asse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4283964"/>
            <a:ext cx="210312" cy="2103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00800" y="4069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Neurodiversity-first operating model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not performative.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760720" y="489204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CRITICAL HIRES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760720" y="516636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engineer · clinical success manager · security/compliance counsel · customer success lead — funded by this round.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Raising $750K — Pre-Seed Infrastructure Round.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tranches, anchored to pilot milestones rather than time. Accredited investors only · $25K minimum.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B2A26"/>
          </a:solidFill>
          <a:ln w="17780">
            <a:solidFill>
              <a:srgbClr val="00C2A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" y="2441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TRANCHE 1 — ON CLOSE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$375K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670048" y="2715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inventory · first hire · compliance infrastructure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3776472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C2030"/>
          </a:solidFill>
          <a:ln w="12700">
            <a:solidFill>
              <a:srgbClr val="1B38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" y="3977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TRANCHE 2 — AT 5TH PAID PILOT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" y="4233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$375K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2670048" y="4251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channel build-out · headcount · Series A preparation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5349240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07181F"/>
          </a:solidFill>
          <a:ln w="12700">
            <a:solidFill>
              <a:srgbClr val="1B38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 </a:t>
            </a:r>
            <a:pPr indent="0" marL="0">
              <a:buNone/>
            </a:pPr>
            <a:r>
              <a:rPr lang="en-US" sz="11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~$4–6K/mo today (founder-stage) → ~$18K/mo post-hire.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43600" y="21945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8A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OF FUNDS — $750K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943600" y="257860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deployment units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65276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$240K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43600" y="2852928"/>
            <a:ext cx="5623560" cy="91440"/>
          </a:xfrm>
          <a:prstGeom prst="rect">
            <a:avLst/>
          </a:prstGeom>
          <a:solidFill>
            <a:srgbClr val="15303F"/>
          </a:solidFill>
          <a:ln/>
        </p:spPr>
      </p:sp>
      <p:sp>
        <p:nvSpPr>
          <p:cNvPr id="23" name="Shape 20"/>
          <p:cNvSpPr/>
          <p:nvPr/>
        </p:nvSpPr>
        <p:spPr>
          <a:xfrm>
            <a:off x="5943600" y="2852928"/>
            <a:ext cx="5623560" cy="914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314553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DBA + clinical success (18 mo)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652760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0" y="3419856"/>
            <a:ext cx="5623560" cy="91440"/>
          </a:xfrm>
          <a:prstGeom prst="rect">
            <a:avLst/>
          </a:prstGeom>
          <a:solidFill>
            <a:srgbClr val="15303F"/>
          </a:solidFill>
          <a:ln/>
        </p:spPr>
      </p:sp>
      <p:sp>
        <p:nvSpPr>
          <p:cNvPr id="27" name="Shape 24"/>
          <p:cNvSpPr/>
          <p:nvPr/>
        </p:nvSpPr>
        <p:spPr>
          <a:xfrm>
            <a:off x="5943600" y="3419856"/>
            <a:ext cx="4217670" cy="914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0" y="37124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founder runway (18 mo)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652760" y="3712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$135K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43600" y="3986784"/>
            <a:ext cx="5623560" cy="91440"/>
          </a:xfrm>
          <a:prstGeom prst="rect">
            <a:avLst/>
          </a:prstGeom>
          <a:solidFill>
            <a:srgbClr val="15303F"/>
          </a:solidFill>
          <a:ln/>
        </p:spPr>
      </p:sp>
      <p:sp>
        <p:nvSpPr>
          <p:cNvPr id="31" name="Shape 28"/>
          <p:cNvSpPr/>
          <p:nvPr/>
        </p:nvSpPr>
        <p:spPr>
          <a:xfrm>
            <a:off x="5943600" y="3986784"/>
            <a:ext cx="3163253" cy="914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0" y="4279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partner enablement + channel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65276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$120K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943600" y="4553712"/>
            <a:ext cx="5623560" cy="91440"/>
          </a:xfrm>
          <a:prstGeom prst="rect">
            <a:avLst/>
          </a:prstGeom>
          <a:solidFill>
            <a:srgbClr val="15303F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3600" y="4553712"/>
            <a:ext cx="2811780" cy="914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0" y="48463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+ legal/IP + compliance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652760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$75K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943600" y="5120640"/>
            <a:ext cx="5623560" cy="91440"/>
          </a:xfrm>
          <a:prstGeom prst="rect">
            <a:avLst/>
          </a:prstGeom>
          <a:solidFill>
            <a:srgbClr val="15303F"/>
          </a:solidFill>
          <a:ln/>
        </p:spPr>
      </p:sp>
      <p:sp>
        <p:nvSpPr>
          <p:cNvPr id="39" name="Shape 36"/>
          <p:cNvSpPr/>
          <p:nvPr/>
        </p:nvSpPr>
        <p:spPr>
          <a:xfrm>
            <a:off x="5943600" y="5120640"/>
            <a:ext cx="1757363" cy="914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0" y="54406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$5,000 paid proof-of-value, non-refundable, applies toward implementation at conversion.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4358488" y="822960"/>
            <a:ext cx="3474720" cy="3474720"/>
          </a:xfrm>
          <a:prstGeom prst="rect">
            <a:avLst/>
          </a:prstGeom>
        </p:spPr>
      </p:pic>
      <p:pic>
        <p:nvPicPr>
          <p:cNvPr id="3" name="Image 1" descr="assets/logo_summi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10515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winning regulated AI systems will be the ones</a:t>
            </a:r>
            <a:endParaRPr lang="en-US" sz="2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can prove what happened.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 is building the local governance infrastructure layer for that future.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1180948" y="4297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2A26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8094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3695548" y="4297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2A26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9554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Reviewable.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0148" y="4297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2A26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014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Auditable.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724748" y="4297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2A26"/>
          </a:solidFill>
          <a:ln w="12700">
            <a:solidFill>
              <a:srgbClr val="0E6F6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72474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Human-accountable.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sell liability reduction, not AI.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914400" y="58064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O'Dell · Founder &amp; CEO   ·   marcus@poconoai.com   ·   (570) 534-0602   ·   poconoai.com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37744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206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 BASIS &amp; DISCLOSURES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EF3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 and diligence notes.</a:t>
            </a:r>
            <a:endParaRPr lang="en-US" sz="2500" dirty="0"/>
          </a:p>
        </p:txBody>
      </p:sp>
      <p:pic>
        <p:nvPicPr>
          <p:cNvPr id="5" name="Image 0" descr="assets/logo_silv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" y="6473952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 AI</a:t>
            </a:r>
            <a:pPr algn="l" indent="0" marL="0">
              <a:buNone/>
            </a:pPr>
            <a:r>
              <a:rPr lang="en-US" sz="800" spc="150" kern="0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DRAFT   ·  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02975" y="6455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65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sources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" y="202082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" y="192024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PoconoAI.com — homepage, architecture, Sentinel Node, governance/audit, pilot workflow, physician &amp; legal pages, pricing, investors.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" y="284378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274320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Ironclad Data Room v1.4 — executive summary, technical architecture, retrieval/audit pipeline, security model, governance framework, HIPAA &amp; privilege positioning, pilots, financials.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6656" y="384962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" y="374904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prior-authorization physician survey — administrative burden and burnout context.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" y="448970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438912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Reuters — Generative AI in Professional Services / legal-adoption reporting.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6656" y="5129784"/>
            <a:ext cx="73152" cy="7315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877824" y="502920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HIPAA Security Rule &amp; cloud guidance; ABA Model Rules 1.1 &amp; 1.6 for professional-responsibility framing.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92240" y="15544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1A1416"/>
          </a:solidFill>
          <a:ln w="13970">
            <a:solidFill>
              <a:srgbClr val="E876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1783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BEFORE EXTERNAL USE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21945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22" name="Text 19"/>
          <p:cNvSpPr/>
          <p:nvPr/>
        </p:nvSpPr>
        <p:spPr>
          <a:xfrm>
            <a:off x="6967728" y="20939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insurance certificate ($2M E&amp;O + cyber).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66560" y="26517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24" name="Text 21"/>
          <p:cNvSpPr/>
          <p:nvPr/>
        </p:nvSpPr>
        <p:spPr>
          <a:xfrm>
            <a:off x="6967728" y="25511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SOC 2 Type I engagement letter (Prescient Assurance).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66560" y="31089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26" name="Text 23"/>
          <p:cNvSpPr/>
          <p:nvPr/>
        </p:nvSpPr>
        <p:spPr>
          <a:xfrm>
            <a:off x="6967728" y="3008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provisional-patent filing receipt (Mar 2026).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66560" y="35661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28" name="Text 25"/>
          <p:cNvSpPr/>
          <p:nvPr/>
        </p:nvSpPr>
        <p:spPr>
          <a:xfrm>
            <a:off x="6967728" y="34655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HIPAA BAA v3.0 and reviewing-counsel detail.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766560" y="40233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30" name="Text 27"/>
          <p:cNvSpPr/>
          <p:nvPr/>
        </p:nvSpPr>
        <p:spPr>
          <a:xfrm>
            <a:off x="6967728" y="39227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the $2.1M HIPAA-exposure figure, or use a cited breach-cost figure.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766560" y="44805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32" name="Text 29"/>
          <p:cNvSpPr/>
          <p:nvPr/>
        </p:nvSpPr>
        <p:spPr>
          <a:xfrm>
            <a:off x="6967728" y="43799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break-even (Q2 vs H2 2027) in the financial model.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766560" y="49377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34" name="Text 31"/>
          <p:cNvSpPr/>
          <p:nvPr/>
        </p:nvSpPr>
        <p:spPr>
          <a:xfrm>
            <a:off x="6967728" y="48371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advisor names may be used publicly.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766560" y="5394960"/>
            <a:ext cx="73152" cy="73152"/>
          </a:xfrm>
          <a:prstGeom prst="ellipse">
            <a:avLst/>
          </a:prstGeom>
          <a:solidFill>
            <a:srgbClr val="E8766F"/>
          </a:solidFill>
          <a:ln/>
        </p:spPr>
      </p:sp>
      <p:sp>
        <p:nvSpPr>
          <p:cNvPr id="36" name="Text 33"/>
          <p:cNvSpPr/>
          <p:nvPr/>
        </p:nvSpPr>
        <p:spPr>
          <a:xfrm>
            <a:off x="6967728" y="5294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 in-discussions pilot with signed design-partner LOIs as available.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58368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49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statement: contains modeled projections and design objectives that are not guarantees. Pocono AI does not represent the Sentinel Node as a substitute for professional medical or legal judgment, regulatory compliance programs, or independent legal review.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Pocono AI,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Pocono AI — Sentinel Node — Pre-Seed Infrastructure Round</dc:title>
  <dc:subject>PptxGenJS Presentation</dc:subject>
  <dc:creator>Pocono AI, LLC</dc:creator>
  <cp:lastModifiedBy>Pocono AI, LLC</cp:lastModifiedBy>
  <cp:revision>1</cp:revision>
  <dcterms:created xsi:type="dcterms:W3CDTF">2026-06-06T03:03:22Z</dcterms:created>
  <dcterms:modified xsi:type="dcterms:W3CDTF">2026-06-06T03:03:22Z</dcterms:modified>
</cp:coreProperties>
</file>